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666666"/>
                </a:solidFill>
                <a:latin typeface="Meiryo"/>
              </a:rPr>
              <a:t>ワイプロジェクトグループ様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Meiryo"/>
              </a:rPr>
              <a:t>2026年4月 月次定例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Meiryo"/>
              </a:rPr>
              <a:t>2026年4月27日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ワイプロジェクトグループ様 月次定例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アジェンダ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4月の着地とKPI比較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チャネル別売上の動向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77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検索キーワード分析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34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34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商品別売上の傾向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91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91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爆買いWEEK 効果検証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749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4月18日 売上ゼロの分析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06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優良配送・楽天ロジ 4つの選択肢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63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663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5月施策のご提案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9.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eiryo"/>
              </a:rPr>
              <a:t>次回までのアクション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1. 4月の着地とKPI比較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4月の着地（4/25実績＋月末推計）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97480" cy="13716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"/>
              </a:rPr>
              <a:t>月着地推計（売上）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197,700円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eiryo"/>
              </a:rPr>
              <a:t>目標 200,000円の99%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Meiryo"/>
              </a:rPr>
              <a:t>4/25時点 166,724円 + 残5日推計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371600"/>
            <a:ext cx="2697480" cy="13716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463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"/>
              </a:rPr>
              <a:t>注文者数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7373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49人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240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eiryo"/>
              </a:rPr>
              <a:t>前月同水準・前年比175%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468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Meiryo"/>
              </a:rPr>
              <a:t>4/25時点 累計49人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1371600"/>
            <a:ext cx="2697480" cy="13716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1463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"/>
              </a:rPr>
              <a:t>客単価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7373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3,403円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240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eiryo"/>
              </a:rPr>
              <a:t>前年比110% / 目標2,111円超過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468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Meiryo"/>
              </a:rPr>
              <a:t>高単価商品が継続して動く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14816" y="1371600"/>
            <a:ext cx="2697480" cy="13716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1976" y="1463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"/>
              </a:rPr>
              <a:t>訪問者数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17373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449人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2240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Meiryo"/>
              </a:rPr>
              <a:t>前年比200% / 目標729人の62%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2468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Meiryo"/>
              </a:rPr>
              <a:t>量はまだ目標未達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本月のポイント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74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4E79"/>
                </a:solidFill>
                <a:latin typeface="Meiryo"/>
              </a:rPr>
              <a:t>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747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売上は目標200,000円に対して着地推計197,700円（達成率99%）。ほぼオンタイム着地の見込み。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86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4E79"/>
                </a:solidFill>
                <a:latin typeface="Meiryo"/>
              </a:rPr>
              <a:t>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86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注文数・客単価・訪問者数すべて前年同月を上回り、ストアの地力は確実に向上。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97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4E79"/>
                </a:solidFill>
                <a:latin typeface="Meiryo"/>
              </a:rPr>
              <a:t>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購買率は前月11.78%→4月11.0%と微減。訪問は増えたが転換が追随していない。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09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4E79"/>
                </a:solidFill>
                <a:latin typeface="Meiryo"/>
              </a:rPr>
              <a:t>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09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一方で、検索CVRは6.8%→11.6%へ改善。指名・商品ジャンルKWでの流入質が向上している。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1. 4月の着地とKPI比較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主要KPI比較（前年・前月・目標）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272"/>
                <a:gridCol w="1385454"/>
                <a:gridCol w="1385454"/>
                <a:gridCol w="1731818"/>
                <a:gridCol w="1385454"/>
                <a:gridCol w="1154545"/>
                <a:gridCol w="1154545"/>
                <a:gridCol w="1385454"/>
              </a:tblGrid>
              <a:tr h="45720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指標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2025年4月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2026年3月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2026年4月
（着地推計）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4月目標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YoY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MoM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目標達成率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売上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86,873円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163,239円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197,700円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200,000円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+128%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+21%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99%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注文数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37件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54件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64件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+73%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+19%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注文者数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28人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49人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58人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+107%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+18%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訪問者数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224人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416人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538人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729人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+140%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+29%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74%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平均購買率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12.50%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11.78%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11.0%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13.0%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-12%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-7%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85%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平均客単価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3,103円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3,331円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3,403円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2,111円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+10%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+2%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161%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ページビュー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1,459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1,516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1,830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+25%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+21%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読み解き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・売上は目標達成圏。ファンクル等の特殊要因なしで実力ベースで成長。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・客単価が目標2,111円を大きく上回る（実績3,403円）。高単価層の購買が定着。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・訪問者数は目標到達まで残り200人。検索流入とリピーター獲得の両輪で5月以降に強化したい。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・購買率は微減トレンド。客単価で補えているが、商品ページCVR改善は中期課題。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2. チャネル別売上の動向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デバイス別売上の構成変化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789"/>
                <a:gridCol w="1203157"/>
                <a:gridCol w="1203157"/>
                <a:gridCol w="1443789"/>
                <a:gridCol w="962526"/>
                <a:gridCol w="962526"/>
                <a:gridCol w="4211052"/>
              </a:tblGrid>
              <a:tr h="45720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チャネル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2025/4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2026/3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2026/4(4/25)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YoY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MoM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コメント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アプリ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65,294円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120,522円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138,607円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+212%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+15%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指名買い・既存リピーターが堅調に拡大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PC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3,687円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14,885円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23,255円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+631%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+56%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新規流入が前年比6倍。検索流入の効果か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スマホWeb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17,892円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27,832円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4,862円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-73%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-83%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激減。要因特定が必要（後述）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スマホWeb売上の急減について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4月のスマホWeb売上は前月の17%にまで低下しました。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スマホWebは検索流入の主要受け皿のため、ここの低下は新規顧客獲得に影響します。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/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想定要因（次回までに切り分けたい）：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  ・スマホ向け商品ページの表示崩れや読込遅延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  ・検索結果上での順位低下（PC/アプリでは取れていても、スマホWeb版で順位が違う場合あり）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  ・楽天ロジ移行に伴う一時的な配送日表記の変化が、スマホ閲覧時の購買意欲を下げた可能性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3. 検索キーワード分析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検索流入の総量と質の変化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8862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検索流入総数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検索経由注文数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検索経由売上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検索CVR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862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2026年2月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161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9件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23,941円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5.6%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2026年3月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220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15件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46,717円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6.8%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2026年4月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155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18件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41,916円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11.6%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読み解き：流入の量よりも質が向上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47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・流入総数は減少（220→155、約30%減）したが、注文数は逆に増加（15→18件）。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・検索CVRは6.8%から11.6%へ大きく改善。流入1人あたりの購買可能性が約1.7倍に。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/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【ご質問への回答：指名買いからビッグKW流入が増えてきている、という仮説について】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・実態は「ビッグKWからの流入はむしろ減少」。逆に「具体的な商品ジャンルKW」での流入が増加。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・例：ビッグKW「うさぎの餌」は流入30→15件に半減、売上も大幅減。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・対して「オーツヘイ」「もふぱふぇ」など買う気が明確なKWでの売上が増加。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・つまり「情報収集段階のユーザー」から「商品選定段階のユーザー」へ流入の質がシフトしている。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3. 検索キーワード分析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注目キーワードの動き（2月→3月→4月）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914"/>
                <a:gridCol w="1702340"/>
                <a:gridCol w="1094361"/>
                <a:gridCol w="1094361"/>
                <a:gridCol w="1094361"/>
                <a:gridCol w="1580744"/>
                <a:gridCol w="1215957"/>
                <a:gridCol w="1215957"/>
              </a:tblGrid>
              <a:tr h="36576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キーワード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区分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2月流入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3月流入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4月流入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4月売上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4月CVR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評価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オーツヘイ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商品ジャンル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13,001円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33.3%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伸長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もふぱふぇ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指名(店舗名)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4,464円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7.6%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伸長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うさぎ 牧草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カテゴリ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4,622円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18.1%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安定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チモシー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商品ジャンル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1,264円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9.0%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回復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オーツヘイ 牧草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商品ジャンル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3,591円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33.3%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新規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牧草王国 カナダ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指名(競合系)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1,220円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50.0%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新規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ハイペット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指名(競合系)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980円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33.3%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新規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うさぎの餌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ビッグKW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3,192円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6.6%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減少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5月以降の打ち手案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・伸長中の「オーツヘイ」「うさぎ 牧草」系の商品名・タグへのKW追加配置を継続強化。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・新規流入KW「ハイペット」「牧草王国 カナダ」など競合指名KWは、対応する代替商品ページのSEO対策とアイテムリーチ配信を検討。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・ビッグKW「うさぎの餌」は購買フェーズ前のユーザーが多く、CVR向上は商品ページの差別化訴求が必要。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4. 商品別売上の傾向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月別の売上トップ商品の変化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101"/>
                <a:gridCol w="6510759"/>
                <a:gridCol w="1736202"/>
                <a:gridCol w="1157468"/>
                <a:gridCol w="1157468"/>
              </a:tblGrid>
              <a:tr h="38862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売上トップ商品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売上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注文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CVR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862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うさぎ 牧草 チモシー お試しセット 50g×12種類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26,482円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13.0%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うさぎ 牧草 チモシー お試しセット 50g×12種類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19,166円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10.3%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うさぎ 牧草 オーツヘイ 特選プレミアム 500g×6袋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29,376円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20.6%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読み解き：お試しセット → リピート購買へのシフト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47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・2月・3月のトップは「お試しセット（12種食べ比べ）」。新規顧客の最初の入り口として機能。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・4月はトップが「オーツヘイ 500g×6袋」へ交代。お試しセットは6位（10,128円）に後退。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/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【意味すること】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・お試しセットを通った顧客が、次の継続購入で「単品の通常商品」に流れる導線が成立しつつある。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・客単価3,403円（前年比+10%）が成立しているのも、リピート単品買いの増加が一因と推定。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・5月以降は「お試し購入者へのフォロー（LINE配信・クーポン）」で2回目購入の確実化が次の打ち手。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5. 爆買いWEEK 効果検証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4月17-19日 20%クーポン施策の結果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058"/>
                <a:gridCol w="2017058"/>
                <a:gridCol w="1344705"/>
                <a:gridCol w="1344705"/>
                <a:gridCol w="1344705"/>
                <a:gridCol w="3361764"/>
              </a:tblGrid>
              <a:tr h="36576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日付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売上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注文数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訪問者数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購買率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備考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4/17(木)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8,432円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5.4%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初日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4/18(金)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売上ゼロ（要分析）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4/19(土)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22,008円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12.5%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最終日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3日合計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30,440円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157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6.4%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通常日3日換算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18,584円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通常日平均×3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上乗せ効果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+11,856円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+4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通常比 約164%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評価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・3日間の上乗せ効果は約12,000円・4注文。一定の集客効果は確認できる。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・ただし4/18の売上ゼロが効果を半減させた。実質「2日間の施策」状態に。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・訪問者数は爆買い期間で1日平均52人と通常の約3倍。集客面では成功。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・購買率は新規流入が増えた分だけ薄まり、施策時平均6.4%（通常11%）へ低下。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・5月の大型販促（5/30-6/1ウルトラ爆買WEEK）に向けては、4/18の事象を解消した上での再実施が必要。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6. 4月18日 売上ゼロの分析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訪問者45人来訪、注文0件の異常日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事実関係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9164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1422400"/>
                <a:gridCol w="1422400"/>
                <a:gridCol w="1422400"/>
              </a:tblGrid>
              <a:tr h="30480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4/17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4/18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4/19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048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売上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8,432円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22,008円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注文数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訪問者数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ページビュー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134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166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平均購買率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5.4%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12.5%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280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想定原因（仮説）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9164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>1. クーポン設定が4/18のみ対象外だった可能性</a:t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>   （獲得済みクーポンの利用期限ズレ等）</a:t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/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>2. 主力商品（オーツヘイ等）の在庫切れ表示</a:t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/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>3. 楽天ロジ移行に伴う配送日表記が極端な日付に</a:t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>   なり、購買意欲を下げた可能性</a:t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/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>4. 計測タイミングの遅延（後日反映の可能性）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次のアクション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・成田様にて 4/18 のクーポン管理画面（公開期間・利用期間）の再確認をお願いします。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・在庫データのバックアップがあれば、4/17〜4/19の在庫状態を比較確認したいです。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・これら原因が特定できれば、5月の大型販促（5/30-6/1）で同じ事象を防止できます。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・現状の最有力仮説は「クーポンの公開期間設定ミス」。次回までに切り分けたい論点です。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7. 優良配送・楽天ロジ 4つの選択肢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楽天BOSSでの優良配送制約への対応方針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現状の課題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・楽天ロジへの配送移行は完了。一方で楽天BOSSでは「お届け指定日のない注文は後回し」になる仕様あり。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・結果、4月の優良配送売上シェアは21.26%にとどまる（指定日入りの注文のみで成立）。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4つの選択肢の比較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880360"/>
          <a:ext cx="1142999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052"/>
                <a:gridCol w="2646947"/>
                <a:gridCol w="3007894"/>
                <a:gridCol w="3007894"/>
                <a:gridCol w="842210"/>
              </a:tblGrid>
              <a:tr h="54864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選択肢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メリット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デメリット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推奨度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A. 自社配送に戻す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楽天ロジから撤退し、自社で出荷管理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指定日不要の注文も即日対応可能、優良配送維持しやすい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出荷工数増、人員リソース必要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B. 現状維持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楽天ロジ継続、優良配送シェア低下を許容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運用負担なし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優良配送バッジが取れず、検索順位が落ちる懸念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低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C. ネクストエンジン等への切替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指定日不要対応の受注管理システムへ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楽天ロジを継続しつつ優良配送条件をクリア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初期設定工数、システム費用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D. 別倉庫への切替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楽天ロジ以外の物流委託先を検討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柔軟な対応、優良配送条件にも合わせられる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倉庫探し・移行コスト・新規契約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Meiryo"/>
              </a:rPr>
              <a:t>おすすめは「C. ネクストエンジン等への切替」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>理由：楽天ロジの設備投資を活かせる／月額コストも自社配送の人件費より低い／出荷品質が安定。</a:t>
            </a:r>
          </a:p>
          <a:p>
            <a:pPr algn="l"/>
            <a:r>
              <a:rPr sz="1000" b="0">
                <a:solidFill>
                  <a:srgbClr val="2C3E50"/>
                </a:solidFill>
                <a:latin typeface="Meiryo"/>
              </a:rPr>
              <a:t>5月中に資料収集・見積取得を行い、6月初旬に方針決定したいです。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8. 5月施策のご提案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5月施策① 販促・広告カレンダー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5月の重点施策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91640"/>
          <a:ext cx="114299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9387"/>
                <a:gridCol w="1749489"/>
                <a:gridCol w="4665306"/>
                <a:gridCol w="2915816"/>
              </a:tblGrid>
              <a:tr h="45720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施策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実施日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想定効果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ボーナスストア5%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5月通月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4月から継続。ベース集客の維持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日次平均6,000円の底支え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5のつく日 ブースト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5/5, 5/15, 5/25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アイテムリーチCPC上げ＋メルマガ・LINE配信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通常日比 約2倍の売上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日曜日クーポン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5/3, 10, 17, 24, 31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5%OFFクーポン（既に発行設定済み）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日曜売上の底上げ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ウルトラ爆買WEEK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5/30 - 6/1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事前1週間からのクーポン配布、最大50%OFF検討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4月爆買week超えを目指す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アイテムリーチKW精査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5/11まで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4月の流入KWデータをもとに入稿KWを再構築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検索CVR維持・改善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夏特集エントリー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4/28まで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Yahoo!ショッピング夏特集への参加申込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夏期間の露出獲得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ウルトラ爆買WEEKの作戦案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・事前獲得促進：5/23(金)から店内クーポン（30%OFF）を発行し、爆買WEEK開始直後の購買を確実化。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・ピーク日（5/31, 6/1）は最大50%OFFクーポンを検討。在庫状況に応じて品目を絞る。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・前回4/18の事象を踏まえ、クーポンの公開期間・利用期間を全日カバーで設定する。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8. 5月施策のご提案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5月施策② LINE基盤の構築（5月以降の中期施策）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LINEを使った2段階の構築プラン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91640"/>
          <a:ext cx="1142999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66"/>
                <a:gridCol w="5820833"/>
                <a:gridCol w="1587500"/>
                <a:gridCol w="3175000"/>
              </a:tblGrid>
              <a:tr h="512064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ステップ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施策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実施時期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目的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Step1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LINE公式アカウント開設・基本設定（あいさつメッセージ、リッチメニュー）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5月上旬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友だち集めの土台作り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Step2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友だち追加クーポン（初回100円OFF等）の設定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5月中旬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新規顧客の友だち化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Step3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購入者向けフォローメッセージの設定（自動配信シナリオ）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5月下旬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お試し購入後のリピート促進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Step4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メッセージ配信開始（5のつく日／日曜／イベント前夜の3パターン）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6月以降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リピーター育成と継続的な売上底上げ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5262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なぜ今LINEなのか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・4月の検索CVR向上が示すように、新規顧客が定着し始めるフェーズに入っている。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・お試しセット購入者を確実に2回目購入へ繋げる仕組みが、5月以降の売上拡大の鍵。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・楽天店舗ではリピーター比率85%、Amazon店舗でも100万円までお試しセットが牽引した実績あり。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・Yahoo!ストアでも同様の構造を再現するために、LINE基盤を5月中に整えることが先決。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8. 5月施策のご提案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5月施策③ 優良配送の方針決定 ＋ その他検討事項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優良配送について（再掲・決定要請）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・先ほどお示しした4選択肢（A.自社配送、B.現状維持、C.ネクストエンジン切替、D.別倉庫）について、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  5月中に方向性決定をお願いしたいです。当方ではC案（ネクストエンジン切替）を推奨しています。</a:t>
            </a:r>
          </a:p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・今月中に必要な情報（ネクストエンジンの料金体系、設定工数、移行期間など）を当方で取りまとめます。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その他5月の検討事項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154680"/>
          <a:ext cx="114299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727"/>
                <a:gridCol w="7793181"/>
                <a:gridCol w="1039090"/>
              </a:tblGrid>
              <a:tr h="45720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優先度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お試しセットのテコ入れ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4月でトップから6位に後退。商品ページのファーストビュー刷新を検討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スマホWeb流入回復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スマホ表示のページ崩れ・読込速度の確認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競合指名KW対策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「牧草王国」「ハイペット」流入の取りこぼし防止策（代替商品ページのSEO）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レビュー施策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レビューアッププログラムの実装で口コミ強化（リピート促進と相乗）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"/>
              </a:rPr>
              <a:t>9. 次回までのアクション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eiryo"/>
              </a:rP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Meiryo"/>
              </a:rPr>
              <a:t>次回までのToDo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5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2999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705"/>
                <a:gridCol w="8404411"/>
                <a:gridCol w="1680882"/>
              </a:tblGrid>
              <a:tr h="411480"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担当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2C3E50"/>
                          </a:solidFill>
                          <a:latin typeface="Meiryo"/>
                        </a:rPr>
                        <a:t>期日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ストア様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4/18 売上ゼロのクーポン管理画面・在庫データの確認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次回MTG前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ストア様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優良配送4選択肢のご検討（特にC案の社内検討）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5月中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ストア様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スマホWebでの商品ページ表示確認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5月上旬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ストア様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夏特集エントリーの実施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4/28まで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当方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アイテムリーチKW精査・入稿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5/11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当方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ネクストエンジン等の代替システム情報まとめ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5月中旬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当方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LINE公式アカウントの構築サポート資料作成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5月上旬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当方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ウルトラ爆買WEEKのクーポン設計と入稿スケジュール提示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5月中旬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5720" rIns="45720" tIns="27432" bIns="27432"/>
                    <a:lstStyle/>
                    <a:p>
                      <a:pPr algn="l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両者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次回月次定例（5月度）日程調整</a:t>
                      </a:r>
                    </a:p>
                  </a:txBody>
                  <a:tcPr/>
                </a:tc>
                <a:tc>
                  <a:txBody>
                    <a:bodyPr lIns="45720" rIns="45720" tIns="27432" bIns="27432"/>
                    <a:lstStyle/>
                    <a:p>
                      <a:pPr algn="r"/>
                      <a:r>
                        <a:rPr sz="1000">
                          <a:solidFill>
                            <a:srgbClr val="2C3E50"/>
                          </a:solidFill>
                          <a:latin typeface="Meiryo"/>
                        </a:rPr>
                        <a:t>今週中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eiryo"/>
              </a:rPr>
              <a:t>ご不明点・ご相談事項がございましたらお気軽にお知らせください。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